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B4F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27-4443-B8B0-4B683BBD7351}"/>
              </c:ext>
            </c:extLst>
          </c:dPt>
          <c:dPt>
            <c:idx val="1"/>
            <c:invertIfNegative val="0"/>
            <c:bubble3D val="0"/>
            <c:spPr>
              <a:solidFill>
                <a:srgbClr val="E94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27-4443-B8B0-4B683BBD735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Retained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50438</c:v>
                </c:pt>
                <c:pt idx="1">
                  <c:v>49562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27-4443-B8B0-4B683BBD73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84B59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51-4E0D-8F9F-DB5521B26143}"/>
              </c:ext>
            </c:extLst>
          </c:dPt>
          <c:dPt>
            <c:idx val="1"/>
            <c:invertIfNegative val="0"/>
            <c:bubble3D val="0"/>
            <c:spPr>
              <a:solidFill>
                <a:srgbClr val="5080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51-4E0D-8F9F-DB5521B26143}"/>
              </c:ext>
            </c:extLst>
          </c:dPt>
          <c:dPt>
            <c:idx val="2"/>
            <c:invertIfNegative val="0"/>
            <c:bubble3D val="0"/>
            <c:spPr>
              <a:solidFill>
                <a:srgbClr val="F7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51-4E0D-8F9F-DB5521B26143}"/>
              </c:ext>
            </c:extLst>
          </c:dPt>
          <c:dPt>
            <c:idx val="3"/>
            <c:invertIfNegative val="0"/>
            <c:bubble3D val="0"/>
            <c:spPr>
              <a:solidFill>
                <a:srgbClr val="E94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51-4E0D-8F9F-DB5521B2614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&lt;1 yr</c:v>
                </c:pt>
                <c:pt idx="1">
                  <c:v>1-2 yrs</c:v>
                </c:pt>
                <c:pt idx="2">
                  <c:v>2-3 yrs</c:v>
                </c:pt>
                <c:pt idx="3">
                  <c:v>3+ yrs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53.8</c:v>
                </c:pt>
                <c:pt idx="2">
                  <c:v>57.5</c:v>
                </c:pt>
                <c:pt idx="3">
                  <c:v>60.1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51-4E0D-8F9F-DB5521B261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23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Retained</c:v>
                </c:pt>
              </c:strCache>
            </c:strRef>
          </c:tx>
          <c:spPr>
            <a:solidFill>
              <a:srgbClr val="1B4F8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Equipment Age (days)</c:v>
                </c:pt>
                <c:pt idx="1">
                  <c:v>Avg Monthly Minutes (MOU)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310</c:v>
                </c:pt>
                <c:pt idx="1">
                  <c:v>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2C-4353-9A5F-8A60EA5C46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94B3C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Equipment Age (days)</c:v>
                </c:pt>
                <c:pt idx="1">
                  <c:v>Avg Monthly Minutes (MOU)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366</c:v>
                </c:pt>
                <c:pt idx="1">
                  <c:v>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2C-4353-9A5F-8A60EA5C46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l"/>
        <c:majorGridlines>
          <c:spPr>
            <a:ln w="6350" cap="flat">
              <a:solidFill>
                <a:srgbClr val="23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 Blend (AUC 0.7071)</c:v>
                </c:pt>
              </c:strCache>
            </c:strRef>
          </c:tx>
          <c:spPr>
            <a:ln w="25400" cap="flat">
              <a:solidFill>
                <a:srgbClr val="F77F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0.00</c:v>
                </c:pt>
                <c:pt idx="1">
                  <c:v>0.04</c:v>
                </c:pt>
                <c:pt idx="2">
                  <c:v>0.07</c:v>
                </c:pt>
                <c:pt idx="3">
                  <c:v>0.12</c:v>
                </c:pt>
                <c:pt idx="4">
                  <c:v>0.16</c:v>
                </c:pt>
                <c:pt idx="5">
                  <c:v>0.21</c:v>
                </c:pt>
                <c:pt idx="6">
                  <c:v>0.28</c:v>
                </c:pt>
                <c:pt idx="7">
                  <c:v>0.32</c:v>
                </c:pt>
                <c:pt idx="8">
                  <c:v>0.39</c:v>
                </c:pt>
                <c:pt idx="9">
                  <c:v>0.43</c:v>
                </c:pt>
                <c:pt idx="10">
                  <c:v>0.51</c:v>
                </c:pt>
                <c:pt idx="11">
                  <c:v>0.59</c:v>
                </c:pt>
                <c:pt idx="12">
                  <c:v>0.65</c:v>
                </c:pt>
                <c:pt idx="13">
                  <c:v>0.74</c:v>
                </c:pt>
                <c:pt idx="14">
                  <c:v>0.82</c:v>
                </c:pt>
                <c:pt idx="15">
                  <c:v>1.00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0.17879999999999999</c:v>
                </c:pt>
                <c:pt idx="2">
                  <c:v>0.25750000000000001</c:v>
                </c:pt>
                <c:pt idx="3">
                  <c:v>0.35120000000000001</c:v>
                </c:pt>
                <c:pt idx="4">
                  <c:v>0.4103</c:v>
                </c:pt>
                <c:pt idx="5">
                  <c:v>0.48809999999999998</c:v>
                </c:pt>
                <c:pt idx="6">
                  <c:v>0.56100000000000005</c:v>
                </c:pt>
                <c:pt idx="7">
                  <c:v>0.60940000000000005</c:v>
                </c:pt>
                <c:pt idx="8">
                  <c:v>0.68049999999999999</c:v>
                </c:pt>
                <c:pt idx="9">
                  <c:v>0.72030000000000005</c:v>
                </c:pt>
                <c:pt idx="10">
                  <c:v>0.78110000000000002</c:v>
                </c:pt>
                <c:pt idx="11">
                  <c:v>0.83830000000000005</c:v>
                </c:pt>
                <c:pt idx="12">
                  <c:v>0.87409999999999999</c:v>
                </c:pt>
                <c:pt idx="13">
                  <c:v>0.92620000000000002</c:v>
                </c:pt>
                <c:pt idx="14">
                  <c:v>0.95709999999999995</c:v>
                </c:pt>
                <c:pt idx="1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88-4C6B-8B07-0A5AB2B7E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 (AUC 0.7048)</c:v>
                </c:pt>
              </c:strCache>
            </c:strRef>
          </c:tx>
          <c:spPr>
            <a:ln w="25400" cap="flat">
              <a:solidFill>
                <a:srgbClr val="50808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0.00</c:v>
                </c:pt>
                <c:pt idx="1">
                  <c:v>0.04</c:v>
                </c:pt>
                <c:pt idx="2">
                  <c:v>0.07</c:v>
                </c:pt>
                <c:pt idx="3">
                  <c:v>0.12</c:v>
                </c:pt>
                <c:pt idx="4">
                  <c:v>0.16</c:v>
                </c:pt>
                <c:pt idx="5">
                  <c:v>0.21</c:v>
                </c:pt>
                <c:pt idx="6">
                  <c:v>0.28</c:v>
                </c:pt>
                <c:pt idx="7">
                  <c:v>0.32</c:v>
                </c:pt>
                <c:pt idx="8">
                  <c:v>0.39</c:v>
                </c:pt>
                <c:pt idx="9">
                  <c:v>0.43</c:v>
                </c:pt>
                <c:pt idx="10">
                  <c:v>0.51</c:v>
                </c:pt>
                <c:pt idx="11">
                  <c:v>0.59</c:v>
                </c:pt>
                <c:pt idx="12">
                  <c:v>0.65</c:v>
                </c:pt>
                <c:pt idx="13">
                  <c:v>0.74</c:v>
                </c:pt>
                <c:pt idx="14">
                  <c:v>0.82</c:v>
                </c:pt>
                <c:pt idx="15">
                  <c:v>1.00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0.17460000000000001</c:v>
                </c:pt>
                <c:pt idx="2">
                  <c:v>0.25380000000000003</c:v>
                </c:pt>
                <c:pt idx="3">
                  <c:v>0.3458</c:v>
                </c:pt>
                <c:pt idx="4">
                  <c:v>0.40500000000000003</c:v>
                </c:pt>
                <c:pt idx="5">
                  <c:v>0.48380000000000001</c:v>
                </c:pt>
                <c:pt idx="6">
                  <c:v>0.55769999999999997</c:v>
                </c:pt>
                <c:pt idx="7">
                  <c:v>0.60560000000000003</c:v>
                </c:pt>
                <c:pt idx="8">
                  <c:v>0.67169999999999996</c:v>
                </c:pt>
                <c:pt idx="9">
                  <c:v>0.71379999999999999</c:v>
                </c:pt>
                <c:pt idx="10">
                  <c:v>0.77349999999999997</c:v>
                </c:pt>
                <c:pt idx="11">
                  <c:v>0.83009999999999995</c:v>
                </c:pt>
                <c:pt idx="12">
                  <c:v>0.86850000000000005</c:v>
                </c:pt>
                <c:pt idx="13">
                  <c:v>0.92210000000000003</c:v>
                </c:pt>
                <c:pt idx="14">
                  <c:v>0.95669999999999999</c:v>
                </c:pt>
                <c:pt idx="1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88-4C6B-8B07-0A5AB2B7E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</c:v>
                </c:pt>
              </c:strCache>
            </c:strRef>
          </c:tx>
          <c:spPr>
            <a:ln w="25400" cap="flat">
              <a:solidFill>
                <a:srgbClr val="475569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0.00</c:v>
                </c:pt>
                <c:pt idx="1">
                  <c:v>0.04</c:v>
                </c:pt>
                <c:pt idx="2">
                  <c:v>0.07</c:v>
                </c:pt>
                <c:pt idx="3">
                  <c:v>0.12</c:v>
                </c:pt>
                <c:pt idx="4">
                  <c:v>0.16</c:v>
                </c:pt>
                <c:pt idx="5">
                  <c:v>0.21</c:v>
                </c:pt>
                <c:pt idx="6">
                  <c:v>0.28</c:v>
                </c:pt>
                <c:pt idx="7">
                  <c:v>0.32</c:v>
                </c:pt>
                <c:pt idx="8">
                  <c:v>0.39</c:v>
                </c:pt>
                <c:pt idx="9">
                  <c:v>0.43</c:v>
                </c:pt>
                <c:pt idx="10">
                  <c:v>0.51</c:v>
                </c:pt>
                <c:pt idx="11">
                  <c:v>0.59</c:v>
                </c:pt>
                <c:pt idx="12">
                  <c:v>0.65</c:v>
                </c:pt>
                <c:pt idx="13">
                  <c:v>0.74</c:v>
                </c:pt>
                <c:pt idx="14">
                  <c:v>0.82</c:v>
                </c:pt>
                <c:pt idx="15">
                  <c:v>1.00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0</c:v>
                </c:pt>
                <c:pt idx="1">
                  <c:v>4.0899999999999999E-2</c:v>
                </c:pt>
                <c:pt idx="2">
                  <c:v>7.0900000000000005E-2</c:v>
                </c:pt>
                <c:pt idx="3">
                  <c:v>0.1235</c:v>
                </c:pt>
                <c:pt idx="4">
                  <c:v>0.15920000000000001</c:v>
                </c:pt>
                <c:pt idx="5">
                  <c:v>0.21410000000000001</c:v>
                </c:pt>
                <c:pt idx="6">
                  <c:v>0.27750000000000002</c:v>
                </c:pt>
                <c:pt idx="7">
                  <c:v>0.31859999999999999</c:v>
                </c:pt>
                <c:pt idx="8">
                  <c:v>0.38590000000000002</c:v>
                </c:pt>
                <c:pt idx="9">
                  <c:v>0.43380000000000002</c:v>
                </c:pt>
                <c:pt idx="10">
                  <c:v>0.50690000000000002</c:v>
                </c:pt>
                <c:pt idx="11">
                  <c:v>0.58940000000000003</c:v>
                </c:pt>
                <c:pt idx="12">
                  <c:v>0.65210000000000001</c:v>
                </c:pt>
                <c:pt idx="13">
                  <c:v>0.74029999999999996</c:v>
                </c:pt>
                <c:pt idx="14">
                  <c:v>0.81730000000000003</c:v>
                </c:pt>
                <c:pt idx="1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88-4C6B-8B07-0A5AB2B7E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3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32-4734-A9D8-F41B3099686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B32-4734-A9D8-F41B3099686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B32-4734-A9D8-F41B30996867}"/>
              </c:ext>
            </c:extLst>
          </c:dPt>
          <c:dPt>
            <c:idx val="3"/>
            <c:invertIfNegative val="0"/>
            <c:bubble3D val="0"/>
            <c:spPr>
              <a:solidFill>
                <a:srgbClr val="1B4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32-4734-A9D8-F41B30996867}"/>
              </c:ext>
            </c:extLst>
          </c:dPt>
          <c:dPt>
            <c:idx val="4"/>
            <c:invertIfNegative val="0"/>
            <c:bubble3D val="0"/>
            <c:spPr>
              <a:solidFill>
                <a:srgbClr val="F7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B32-4734-A9D8-F41B30996867}"/>
              </c:ext>
            </c:extLst>
          </c:dPt>
          <c:cat>
            <c:strRef>
              <c:f>Sheet1!$A$2:$A$6</c:f>
              <c:strCache>
                <c:ptCount val="5"/>
                <c:pt idx="0">
                  <c:v>XGB</c:v>
                </c:pt>
                <c:pt idx="1">
                  <c:v>LGB</c:v>
                </c:pt>
                <c:pt idx="2">
                  <c:v>Cat</c:v>
                </c:pt>
                <c:pt idx="3">
                  <c:v>Stack</c:v>
                </c:pt>
                <c:pt idx="4">
                  <c:v>Blend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0.70479999999999998</c:v>
                </c:pt>
                <c:pt idx="1">
                  <c:v>0.70389999999999997</c:v>
                </c:pt>
                <c:pt idx="2">
                  <c:v>0.70320000000000005</c:v>
                </c:pt>
                <c:pt idx="3">
                  <c:v>0.70579999999999998</c:v>
                </c:pt>
                <c:pt idx="4">
                  <c:v>0.70709999999999995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B32-4734-A9D8-F41B309968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2"/>
          <c:min val="0.68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dist_cluster_1</c:v>
                </c:pt>
                <c:pt idx="1">
                  <c:v>rev_decay_ratio</c:v>
                </c:pt>
                <c:pt idx="2">
                  <c:v>totmrc_Mean</c:v>
                </c:pt>
                <c:pt idx="3">
                  <c:v>avgqty</c:v>
                </c:pt>
                <c:pt idx="4">
                  <c:v>overage_ratio</c:v>
                </c:pt>
                <c:pt idx="5">
                  <c:v>active_sub_ratio</c:v>
                </c:pt>
                <c:pt idx="6">
                  <c:v>hnd_price</c:v>
                </c:pt>
                <c:pt idx="7">
                  <c:v>mou_Mean</c:v>
                </c:pt>
                <c:pt idx="8">
                  <c:v>mou_decay_ratio</c:v>
                </c:pt>
                <c:pt idx="9">
                  <c:v>refurb_new</c:v>
                </c:pt>
                <c:pt idx="10">
                  <c:v>months</c:v>
                </c:pt>
                <c:pt idx="11">
                  <c:v>eqpdays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1.15E-2</c:v>
                </c:pt>
                <c:pt idx="1">
                  <c:v>1.18E-2</c:v>
                </c:pt>
                <c:pt idx="2">
                  <c:v>1.1900000000000001E-2</c:v>
                </c:pt>
                <c:pt idx="3">
                  <c:v>1.32E-2</c:v>
                </c:pt>
                <c:pt idx="4">
                  <c:v>1.61E-2</c:v>
                </c:pt>
                <c:pt idx="5">
                  <c:v>1.6799999999999999E-2</c:v>
                </c:pt>
                <c:pt idx="6">
                  <c:v>1.89E-2</c:v>
                </c:pt>
                <c:pt idx="7">
                  <c:v>2.0799999999999999E-2</c:v>
                </c:pt>
                <c:pt idx="8">
                  <c:v>2.2200000000000001E-2</c:v>
                </c:pt>
                <c:pt idx="9">
                  <c:v>2.52E-2</c:v>
                </c:pt>
                <c:pt idx="10">
                  <c:v>2.9499999999999998E-2</c:v>
                </c:pt>
                <c:pt idx="11">
                  <c:v>7.4399999999999994E-2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51-47FA-B2B6-810630FB4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3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3364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at Risk ($M)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82-4563-835B-C32D90526CAF}"/>
              </c:ext>
            </c:extLst>
          </c:dPt>
          <c:dPt>
            <c:idx val="1"/>
            <c:invertIfNegative val="0"/>
            <c:bubble3D val="0"/>
            <c:spPr>
              <a:solidFill>
                <a:srgbClr val="F1C4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82-4563-835B-C32D90526CAF}"/>
              </c:ext>
            </c:extLst>
          </c:dPt>
          <c:dPt>
            <c:idx val="2"/>
            <c:invertIfNegative val="0"/>
            <c:bubble3D val="0"/>
            <c:spPr>
              <a:solidFill>
                <a:srgbClr val="F7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82-4563-835B-C32D90526CAF}"/>
              </c:ext>
            </c:extLst>
          </c:dPt>
          <c:dPt>
            <c:idx val="3"/>
            <c:invertIfNegative val="0"/>
            <c:bubble3D val="0"/>
            <c:spPr>
              <a:solidFill>
                <a:srgbClr val="E94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782-4563-835B-C32D90526CAF}"/>
              </c:ext>
            </c:extLst>
          </c:dPt>
          <c:dLbls>
            <c:numFmt formatCode="&quot;$&quot;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  <c:pt idx="3">
                  <c:v>Critical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2.14</c:v>
                </c:pt>
                <c:pt idx="1">
                  <c:v>10.18</c:v>
                </c:pt>
                <c:pt idx="2">
                  <c:v>15.8</c:v>
                </c:pt>
                <c:pt idx="3">
                  <c:v>6.81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782-4563-835B-C32D90526C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16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763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5956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Churn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Strategy</a:t>
            </a:r>
            <a:endParaRPr lang="en-US" sz="38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A452A0-FD89-0326-92E3-F8BF5C1D3D8E}"/>
              </a:ext>
            </a:extLst>
          </p:cNvPr>
          <p:cNvGrpSpPr/>
          <p:nvPr/>
        </p:nvGrpSpPr>
        <p:grpSpPr>
          <a:xfrm>
            <a:off x="1029526" y="4572000"/>
            <a:ext cx="2651760" cy="1463040"/>
            <a:chOff x="548640" y="4572000"/>
            <a:chExt cx="2651760" cy="1463040"/>
          </a:xfrm>
        </p:grpSpPr>
        <p:sp>
          <p:nvSpPr>
            <p:cNvPr id="14" name="Shape 12"/>
            <p:cNvSpPr/>
            <p:nvPr/>
          </p:nvSpPr>
          <p:spPr>
            <a:xfrm>
              <a:off x="548640" y="4572000"/>
              <a:ext cx="2651760" cy="1463040"/>
            </a:xfrm>
            <a:prstGeom prst="roundRect">
              <a:avLst>
                <a:gd name="adj" fmla="val 4375"/>
              </a:avLst>
            </a:prstGeom>
            <a:solidFill>
              <a:srgbClr val="1B4F8A">
                <a:alpha val="35000"/>
              </a:srgbClr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713232" y="4681728"/>
              <a:ext cx="23317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F77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100K</a:t>
              </a:r>
              <a:endParaRPr lang="en-US" sz="3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13232" y="5376672"/>
              <a:ext cx="23317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Customers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16B747-78C0-AE88-238D-0EDDCC1BA186}"/>
              </a:ext>
            </a:extLst>
          </p:cNvPr>
          <p:cNvGrpSpPr/>
          <p:nvPr/>
        </p:nvGrpSpPr>
        <p:grpSpPr>
          <a:xfrm>
            <a:off x="4460399" y="4572000"/>
            <a:ext cx="2651760" cy="1463040"/>
            <a:chOff x="3474720" y="4572000"/>
            <a:chExt cx="2651760" cy="1463040"/>
          </a:xfrm>
        </p:grpSpPr>
        <p:sp>
          <p:nvSpPr>
            <p:cNvPr id="17" name="Shape 15"/>
            <p:cNvSpPr/>
            <p:nvPr/>
          </p:nvSpPr>
          <p:spPr>
            <a:xfrm>
              <a:off x="3474720" y="4572000"/>
              <a:ext cx="2651760" cy="1463040"/>
            </a:xfrm>
            <a:prstGeom prst="roundRect">
              <a:avLst>
                <a:gd name="adj" fmla="val 4375"/>
              </a:avLst>
            </a:prstGeom>
            <a:solidFill>
              <a:srgbClr val="1B4F8A">
                <a:alpha val="35000"/>
              </a:srgbClr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3639312" y="4681728"/>
              <a:ext cx="23317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F77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49.6%</a:t>
              </a:r>
              <a:endParaRPr lang="en-US" sz="3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639312" y="5376672"/>
              <a:ext cx="23317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Churn Rate</a:t>
              </a:r>
              <a:endParaRPr lang="en-US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891F54-EB60-A9C6-93B2-CC5C41EE26BD}"/>
              </a:ext>
            </a:extLst>
          </p:cNvPr>
          <p:cNvGrpSpPr/>
          <p:nvPr/>
        </p:nvGrpSpPr>
        <p:grpSpPr>
          <a:xfrm>
            <a:off x="7891272" y="4572000"/>
            <a:ext cx="2651760" cy="1463040"/>
            <a:chOff x="6400800" y="4572000"/>
            <a:chExt cx="2651760" cy="1463040"/>
          </a:xfrm>
        </p:grpSpPr>
        <p:sp>
          <p:nvSpPr>
            <p:cNvPr id="20" name="Shape 18"/>
            <p:cNvSpPr/>
            <p:nvPr/>
          </p:nvSpPr>
          <p:spPr>
            <a:xfrm>
              <a:off x="6400800" y="4572000"/>
              <a:ext cx="2651760" cy="1463040"/>
            </a:xfrm>
            <a:prstGeom prst="roundRect">
              <a:avLst>
                <a:gd name="adj" fmla="val 4375"/>
              </a:avLst>
            </a:prstGeom>
            <a:solidFill>
              <a:srgbClr val="1B4F8A">
                <a:alpha val="35000"/>
              </a:srgbClr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6565392" y="4681728"/>
              <a:ext cx="23317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F77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0.7071</a:t>
              </a:r>
              <a:endParaRPr lang="en-US" sz="3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565392" y="5376672"/>
              <a:ext cx="23317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 AUC</a:t>
              </a:r>
              <a:endParaRPr lang="en-US" sz="1200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A2ED3D76-833B-50C3-FF78-C76C4D1D4D90}"/>
              </a:ext>
            </a:extLst>
          </p:cNvPr>
          <p:cNvSpPr/>
          <p:nvPr/>
        </p:nvSpPr>
        <p:spPr>
          <a:xfrm>
            <a:off x="8778240" y="2495045"/>
            <a:ext cx="2313542" cy="679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Omar Salem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Data Analyst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355BE36-7C21-1B03-3BDF-88B0F7FB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560" y="475488"/>
            <a:ext cx="1894901" cy="18716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828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80136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&amp; Problem Statement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54480" y="2148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A's churn situation and what's at stake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69164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828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51192" y="180136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51192" y="2148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behavioural patterns and churn drivers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95351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92608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54480" y="32735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selection, training and performance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2816352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295351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51192" y="292608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Churn?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51192" y="32735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and actionable insights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41064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4078224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40507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Segmentation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54480" y="439826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predictions into four risk tiers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45352" y="3941064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4078224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51192" y="40507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Proposal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51192" y="439826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Upgrade Program — ROI &amp; roadmap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</a:t>
            </a: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&amp; Problem Statement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$267B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 Churn Globally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840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 Annual Churn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840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5-7x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vs. Retain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Situation Analysis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508760"/>
            <a:ext cx="6766560" cy="731520"/>
          </a:xfrm>
          <a:prstGeom prst="roundRect">
            <a:avLst>
              <a:gd name="adj" fmla="val 6250"/>
            </a:avLst>
          </a:prstGeom>
          <a:solidFill>
            <a:srgbClr val="FFF0EF"/>
          </a:solidFill>
          <a:ln w="1016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161848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Churn Rate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50976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9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350008"/>
            <a:ext cx="6766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245973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0" y="2441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3191256"/>
            <a:ext cx="6766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33009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Rev / Customer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09760" y="32826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$58.72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4032504"/>
            <a:ext cx="6766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414223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Predictor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509760" y="41239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4873752"/>
            <a:ext cx="6766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49834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Customers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09760" y="49651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12,045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5715000"/>
            <a:ext cx="6766560" cy="594360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576072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Company A's 49.6% churn rate is 3x the industry average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Distribution &amp; Behavioural Differences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572000"/>
          </a:xfrm>
          <a:prstGeom prst="roundRect">
            <a:avLst>
              <a:gd name="adj" fmla="val 1200"/>
            </a:avLst>
          </a:prstGeom>
          <a:solidFill>
            <a:srgbClr val="13243A"/>
          </a:solidFill>
          <a:ln w="1270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600200"/>
            <a:ext cx="4663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data &amp; EDA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  = pd.read_csv('Client.csv')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= pd.read_csv('Record.csv')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 = rec.merge(cl,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on='Customer_ID',how='inner')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df['churn'].value_counts()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.sort_index()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 = ax.bar(['Retained','Churned'],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v.values,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color=['#1e3a5f','#d62828'])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Distribution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943600" y="182880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9418320" y="173736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41832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0.7071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Equipment Age: #1 Churn Driver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0" cy="4114800"/>
          </a:xfrm>
          <a:prstGeom prst="roundRect">
            <a:avLst>
              <a:gd name="adj" fmla="val 1333"/>
            </a:avLst>
          </a:prstGeom>
          <a:solidFill>
            <a:srgbClr val="13243A"/>
          </a:solidFill>
          <a:ln w="1270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 — Equipment Age Analysis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df['eqp_bin'] = pd.cut(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df['eqpdays']/365,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bins=[0,1,2,3,100],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labels=['&lt;1yr','1-2yr',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'2-3yr','3+yr'])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churn_rate = df.groupby('eqp_bin')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['churn'].mean()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Devices 3+ years old churn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 60% vs 45% for &lt;1yr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— strongest single signal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entire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Device Age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943600" y="150876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5120640"/>
            <a:ext cx="5669280" cy="1188720"/>
          </a:xfrm>
          <a:prstGeom prst="roundRect">
            <a:avLst>
              <a:gd name="adj" fmla="val 4615"/>
            </a:avLst>
          </a:prstGeom>
          <a:solidFill>
            <a:srgbClr val="F77F00">
              <a:alpha val="12000"/>
            </a:srgbClr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5193792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2+ yrs old = 57-60% churn — 8-15 pts above average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Refurbished phones: 130%+ call rate (frustrated users)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upgrade offer addresses root cause faster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5303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37.5% of customers with 3+ year old devices churn — 8 pts above Company A average.  Most actionable finding for Company A.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Churned vs. Retained: Key Behavioural Differences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754880" cy="3840480"/>
          </a:xfrm>
          <a:prstGeom prst="roundRect">
            <a:avLst>
              <a:gd name="adj" fmla="val 1429"/>
            </a:avLst>
          </a:prstGeom>
          <a:solidFill>
            <a:srgbClr val="13243A"/>
          </a:solidFill>
          <a:ln w="1270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1463040"/>
            <a:ext cx="43891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medians: churned vs retained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df.groupby('churn')[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['eqpdays','mou_Mean',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'change_mou']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].median()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 findings: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eqpdays:   366 vs 310 (+18%)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mou_Mean:  330 vs 381 (-13%)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change_mou: -10 vs -3 (-233%)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Churners have older devices,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the service less, and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their usage is declining faster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77840" y="1280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Values — Churned vs. Retained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577840" y="1719072"/>
          <a:ext cx="61264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498348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13243A"/>
          </a:solidFill>
          <a:ln w="12700">
            <a:solidFill>
              <a:srgbClr val="E94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77840" y="50474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577840" y="5486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devices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62672" y="498348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13243A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62672" y="50474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62672" y="5486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minutes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747504" y="498348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13243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747504" y="50474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-233%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747504" y="5486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usage decline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46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Model Training &amp; Evaluation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All Models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943600" y="150876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097280"/>
            <a:ext cx="5120640" cy="4800600"/>
          </a:xfrm>
          <a:prstGeom prst="roundRect">
            <a:avLst>
              <a:gd name="adj" fmla="val 1143"/>
            </a:avLst>
          </a:prstGeom>
          <a:solidFill>
            <a:srgbClr val="13243A"/>
          </a:solidFill>
          <a:ln w="1270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2618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Final Scores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4846320" cy="594360"/>
          </a:xfrm>
          <a:prstGeom prst="roundRect">
            <a:avLst>
              <a:gd name="adj" fmla="val 6154"/>
            </a:avLst>
          </a:prstGeom>
          <a:solidFill>
            <a:srgbClr val="182132"/>
          </a:solidFill>
          <a:ln w="635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69080" y="1764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2386584"/>
            <a:ext cx="4846320" cy="594360"/>
          </a:xfrm>
          <a:prstGeom prst="roundRect">
            <a:avLst>
              <a:gd name="adj" fmla="val 6154"/>
            </a:avLst>
          </a:prstGeom>
          <a:solidFill>
            <a:srgbClr val="182132"/>
          </a:solidFill>
          <a:ln w="635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24780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69080" y="24597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0.6823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3081528"/>
            <a:ext cx="4846320" cy="594360"/>
          </a:xfrm>
          <a:prstGeom prst="roundRect">
            <a:avLst>
              <a:gd name="adj" fmla="val 6154"/>
            </a:avLst>
          </a:prstGeom>
          <a:solidFill>
            <a:srgbClr val="182132"/>
          </a:solidFill>
          <a:ln w="635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3172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6908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0.7032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776472"/>
            <a:ext cx="4846320" cy="594360"/>
          </a:xfrm>
          <a:prstGeom prst="roundRect">
            <a:avLst>
              <a:gd name="adj" fmla="val 6154"/>
            </a:avLst>
          </a:prstGeom>
          <a:solidFill>
            <a:srgbClr val="182132"/>
          </a:solidFill>
          <a:ln w="635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069080" y="38496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0.7039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85800" y="4471416"/>
            <a:ext cx="4846320" cy="594360"/>
          </a:xfrm>
          <a:prstGeom prst="roundRect">
            <a:avLst>
              <a:gd name="adj" fmla="val 6154"/>
            </a:avLst>
          </a:prstGeom>
          <a:solidFill>
            <a:srgbClr val="182132"/>
          </a:solidFill>
          <a:ln w="635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" y="45628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069080" y="4544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0.7048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5166360"/>
            <a:ext cx="4846320" cy="594360"/>
          </a:xfrm>
          <a:prstGeom prst="roundRect">
            <a:avLst>
              <a:gd name="adj" fmla="val 6154"/>
            </a:avLst>
          </a:prstGeom>
          <a:solidFill>
            <a:srgbClr val="182132"/>
          </a:solidFill>
          <a:ln w="635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68680" y="5257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069080" y="52395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0.7058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5989320"/>
            <a:ext cx="5120640" cy="594360"/>
          </a:xfrm>
          <a:prstGeom prst="roundRect">
            <a:avLst>
              <a:gd name="adj" fmla="val 6154"/>
            </a:avLst>
          </a:prstGeom>
          <a:solidFill>
            <a:srgbClr val="1F2E1A"/>
          </a:solidFill>
          <a:ln w="1905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7240" y="6080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Final Blend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318612" y="6080760"/>
            <a:ext cx="716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0.7071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 — What Drives Churn?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87680" y="809244"/>
            <a:ext cx="4572000" cy="2619756"/>
          </a:xfrm>
          <a:prstGeom prst="roundRect">
            <a:avLst>
              <a:gd name="adj" fmla="val 1200"/>
            </a:avLst>
          </a:prstGeom>
          <a:solidFill>
            <a:srgbClr val="13243A"/>
          </a:solidFill>
          <a:ln w="1270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521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960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63040" y="1316736"/>
            <a:ext cx="3429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devices = proactive upgrade offer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741932"/>
            <a:ext cx="4114800" cy="22860"/>
          </a:xfrm>
          <a:prstGeom prst="line">
            <a:avLst/>
          </a:prstGeom>
          <a:noFill/>
          <a:ln w="1016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33372"/>
            <a:ext cx="5212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851660"/>
            <a:ext cx="14233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Refurbished Phone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63040" y="2185416"/>
            <a:ext cx="3596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satisfaction — incentivise upgrade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777240" y="2585880"/>
            <a:ext cx="4114800" cy="0"/>
          </a:xfrm>
          <a:prstGeom prst="line">
            <a:avLst/>
          </a:prstGeom>
          <a:noFill/>
          <a:ln w="1016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629341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6083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63040" y="2926521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Anniversary campaigns at 12 &amp; 24 months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680" y="355062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Final Scores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230652209"/>
              </p:ext>
            </p:extLst>
          </p:nvPr>
        </p:nvGraphicFramePr>
        <p:xfrm>
          <a:off x="548640" y="3849624"/>
          <a:ext cx="4617720" cy="2642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486400" y="1097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 (XGBoost)</a:t>
            </a:r>
            <a:endParaRPr lang="en-US" sz="1300" dirty="0"/>
          </a:p>
        </p:txBody>
      </p:sp>
      <p:graphicFrame>
        <p:nvGraphicFramePr>
          <p:cNvPr id="18" name="Chart 1"/>
          <p:cNvGraphicFramePr/>
          <p:nvPr>
            <p:extLst>
              <p:ext uri="{D42A27DB-BD31-4B8C-83A1-F6EECF244321}">
                <p14:modId xmlns:p14="http://schemas.microsoft.com/office/powerpoint/2010/main" val="3695533209"/>
              </p:ext>
            </p:extLst>
          </p:nvPr>
        </p:nvGraphicFramePr>
        <p:xfrm>
          <a:off x="5486400" y="960120"/>
          <a:ext cx="6217920" cy="5352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Segmentation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Business Impact &amp; Proposal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3474720"/>
          </a:xfrm>
          <a:prstGeom prst="roundRect">
            <a:avLst>
              <a:gd name="adj" fmla="val 1579"/>
            </a:avLst>
          </a:prstGeom>
          <a:solidFill>
            <a:srgbClr val="13243A"/>
          </a:solidFill>
          <a:ln w="1270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554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Risk Segmentation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results['risk_tier'] = pd.cut(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results['churn_proba'],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bins=[0,.3,.5,.7,1],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labels=['Low','Medium',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'High','Critical'])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Blend model identifies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11,760 critical-risk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customers — $7.43M at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risk — with single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DA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focused intervention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Matrix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828800"/>
            <a:ext cx="5669280" cy="960120"/>
          </a:xfrm>
          <a:prstGeom prst="roundRect">
            <a:avLst>
              <a:gd name="adj" fmla="val 5714"/>
            </a:avLst>
          </a:prstGeom>
          <a:solidFill>
            <a:srgbClr val="13243A"/>
          </a:solidFill>
          <a:ln w="12700">
            <a:solidFill>
              <a:srgbClr val="E94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0" y="182880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E94B3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0" y="19019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12,045 customers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635240" y="20299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23960" y="20299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upgrade + loyalty call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0" y="2907792"/>
            <a:ext cx="5669280" cy="960120"/>
          </a:xfrm>
          <a:prstGeom prst="roundRect">
            <a:avLst>
              <a:gd name="adj" fmla="val 5714"/>
            </a:avLst>
          </a:prstGeom>
          <a:solidFill>
            <a:srgbClr val="13243A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2907792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77F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9809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33832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37,815 customers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35240" y="3108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50-70%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23960" y="3108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outreach, loyalty rewards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0" y="3986784"/>
            <a:ext cx="5669280" cy="960120"/>
          </a:xfrm>
          <a:prstGeom prst="roundRect">
            <a:avLst>
              <a:gd name="adj" fmla="val 5714"/>
            </a:avLst>
          </a:prstGeom>
          <a:solidFill>
            <a:srgbClr val="13243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0" y="3986784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1B4F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40599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44622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35,490 customers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35240" y="41879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23960" y="4187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email campaigns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0" y="5065776"/>
            <a:ext cx="5669280" cy="960120"/>
          </a:xfrm>
          <a:prstGeom prst="roundRect">
            <a:avLst>
              <a:gd name="adj" fmla="val 5714"/>
            </a:avLst>
          </a:prstGeom>
          <a:solidFill>
            <a:srgbClr val="13243A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0" y="5065776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5080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51389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0" y="55412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14,650 customers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35240" y="5266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23960" y="52669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retention comms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13243A"/>
          </a:solidFill>
          <a:ln w="1270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model output → Prioritised Action List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724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 model identifies 12,045 critical-risk customers representing $7.43M in annual revenue at risk — targetable with a single focused intervention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</a:t>
            </a: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by Customer Tier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exposed to churn — scaled to full 100,000-customer base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00400" cy="1920240"/>
          </a:xfrm>
          <a:prstGeom prst="roundRect">
            <a:avLst>
              <a:gd name="adj" fmla="val 333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023360" y="1417320"/>
          <a:ext cx="7635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28032"/>
          <a:ext cx="777240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$10.18M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37,815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$15.80M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94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94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412480" y="4828032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49640" y="4919472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tier carries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$15.8M — the single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revenue exposure.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#2 after Critical.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</a:t>
            </a: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Proposal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Upgrade Program (SUP)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proactive retention initiative targeting high-risk customers with personalised device upgrade offers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4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33472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3035808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11,760 critical-risk customers identified by the blend model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4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g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0116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83864" y="2633472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83864" y="3035808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Subsidised device upgrade + plan optimisation, and discount level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6089904" y="18745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4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user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20116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54496" y="2633472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54496" y="3035808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Customised timing, device recommendation, and discount level</a:t>
            </a:r>
            <a:endParaRPr lang="en-US" sz="1200" b="1" dirty="0"/>
          </a:p>
        </p:txBody>
      </p:sp>
      <p:sp>
        <p:nvSpPr>
          <p:cNvPr id="17" name="Shape 12"/>
          <p:cNvSpPr/>
          <p:nvPr/>
        </p:nvSpPr>
        <p:spPr>
          <a:xfrm>
            <a:off x="8860536" y="18745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4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s/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096" y="20116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25128" y="2633472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025128" y="3035808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churn rate, CLV, NPS and upgrade acceptance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Shape 15"/>
          <p:cNvSpPr/>
          <p:nvPr/>
        </p:nvSpPr>
        <p:spPr>
          <a:xfrm>
            <a:off x="548640" y="438912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1B4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31520" y="4480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Retain 30%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3152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$148K saved per year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233672" y="438912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416552" y="4480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Retain 50%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416552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$222K saved per year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7918704" y="438912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8101584" y="4480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 — Retain 70%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101584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2,057 customers retained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</a:t>
            </a: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Business Impact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E94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49.6%→40%</a:t>
            </a:r>
            <a:endParaRPr lang="en-US" sz="22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Target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3400" y="109728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1B4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$58.72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19659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Net/Customer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38160" y="109728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0" y="1188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$222K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21040" y="19659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After-Savings Estimate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Calculation — Smart Upgrade Program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26974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subsidy / 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$150 subsidy per upgrade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support (per contact)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annual support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tech &amp;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annual setup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 (11,624 customers)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$2,389,750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segment outreach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Savings (Scenario 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$1,067,873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all costs, 50%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4805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55648"/>
            <a:ext cx="530352" cy="530352"/>
          </a:xfrm>
          <a:prstGeom prst="ellipse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874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957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9077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584448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scoring pipeline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100K customers weekly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vs. holdout baseline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600200"/>
            <a:ext cx="2651760" cy="44805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11880" y="1755648"/>
            <a:ext cx="530352" cy="530352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f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18745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3957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11880" y="29077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3584448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10% SUP sample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control group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upgrade acceptance &amp; churn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651760" cy="44805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46520" y="1755648"/>
            <a:ext cx="530352" cy="530352"/>
          </a:xfrm>
          <a:prstGeom prst="ellipse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18745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3957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5-8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46520" y="29077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Optimise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46520" y="3584448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to full segment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threshold &amp; offer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offer variants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52560" y="1600200"/>
            <a:ext cx="2651760" cy="44805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281160" y="1755648"/>
            <a:ext cx="530352" cy="530352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187452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23957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281160" y="29077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81160" y="3584448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quarterly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feature drift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medium-risk tier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rate  |  Customer Lifetime Value (CLV)  |  Net Promoter Score (NPS)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5177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action: a clear path to reduce churn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5652"/>
            <a:ext cx="11064240" cy="0"/>
          </a:xfrm>
          <a:prstGeom prst="line">
            <a:avLst/>
          </a:prstGeom>
          <a:noFill/>
          <a:ln w="12700">
            <a:solidFill>
              <a:srgbClr val="23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5AC7DF-64CA-1BF4-6B1A-95D4F6E83CC6}"/>
              </a:ext>
            </a:extLst>
          </p:cNvPr>
          <p:cNvGrpSpPr/>
          <p:nvPr/>
        </p:nvGrpSpPr>
        <p:grpSpPr>
          <a:xfrm>
            <a:off x="548640" y="1464306"/>
            <a:ext cx="658368" cy="669716"/>
            <a:chOff x="548640" y="1543132"/>
            <a:chExt cx="658368" cy="669716"/>
          </a:xfrm>
        </p:grpSpPr>
        <p:sp>
          <p:nvSpPr>
            <p:cNvPr id="5" name="Shape 3"/>
            <p:cNvSpPr/>
            <p:nvPr/>
          </p:nvSpPr>
          <p:spPr>
            <a:xfrm>
              <a:off x="548640" y="1543132"/>
              <a:ext cx="658368" cy="658368"/>
            </a:xfrm>
            <a:prstGeom prst="roundRect">
              <a:avLst>
                <a:gd name="adj" fmla="val 8333"/>
              </a:avLst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548640" y="1554480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6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1371600" y="1485735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Clear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3716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A's 49.6% churn is 3x industry average — driven by equipment age and declining usage. Both measurable and predictable.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BD013C-DD22-C2AE-53B6-0C0AA5576588}"/>
              </a:ext>
            </a:extLst>
          </p:cNvPr>
          <p:cNvGrpSpPr/>
          <p:nvPr/>
        </p:nvGrpSpPr>
        <p:grpSpPr>
          <a:xfrm>
            <a:off x="548640" y="2395728"/>
            <a:ext cx="658368" cy="658368"/>
            <a:chOff x="548640" y="2724912"/>
            <a:chExt cx="658368" cy="658368"/>
          </a:xfrm>
        </p:grpSpPr>
        <p:sp>
          <p:nvSpPr>
            <p:cNvPr id="9" name="Shape 7"/>
            <p:cNvSpPr/>
            <p:nvPr/>
          </p:nvSpPr>
          <p:spPr>
            <a:xfrm>
              <a:off x="548640" y="2724912"/>
              <a:ext cx="658368" cy="658368"/>
            </a:xfrm>
            <a:prstGeom prst="roundRect">
              <a:avLst>
                <a:gd name="adj" fmla="val 8333"/>
              </a:avLst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548640" y="2724912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6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1371600" y="239572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5068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model achieves AUC-ROC of 0.7071, identifying 12,045 customers at critical risk (&gt;70%) before they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71600" y="330963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Quantified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43875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$7.43M in annual revenue at risk. A 50% retention improvement cases $1.06M annually with positive ROI.</a:t>
            </a:r>
            <a:endParaRPr lang="en-US" sz="12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82A0D07-72E2-0033-A24D-7ED1398C604E}"/>
              </a:ext>
            </a:extLst>
          </p:cNvPr>
          <p:cNvGrpSpPr/>
          <p:nvPr/>
        </p:nvGrpSpPr>
        <p:grpSpPr>
          <a:xfrm>
            <a:off x="548640" y="3284403"/>
            <a:ext cx="658368" cy="658368"/>
            <a:chOff x="548640" y="3895344"/>
            <a:chExt cx="658368" cy="658368"/>
          </a:xfrm>
        </p:grpSpPr>
        <p:sp>
          <p:nvSpPr>
            <p:cNvPr id="13" name="Shape 11"/>
            <p:cNvSpPr/>
            <p:nvPr/>
          </p:nvSpPr>
          <p:spPr>
            <a:xfrm>
              <a:off x="548640" y="3895344"/>
              <a:ext cx="658368" cy="658368"/>
            </a:xfrm>
            <a:prstGeom prst="roundRect">
              <a:avLst>
                <a:gd name="adj" fmla="val 8333"/>
              </a:avLst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48640" y="3895344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16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240F570-C533-21EE-B5B4-98BEC528F4F1}"/>
              </a:ext>
            </a:extLst>
          </p:cNvPr>
          <p:cNvGrpSpPr/>
          <p:nvPr/>
        </p:nvGrpSpPr>
        <p:grpSpPr>
          <a:xfrm>
            <a:off x="548640" y="4126425"/>
            <a:ext cx="658368" cy="677536"/>
            <a:chOff x="548640" y="5065776"/>
            <a:chExt cx="658368" cy="677536"/>
          </a:xfrm>
        </p:grpSpPr>
        <p:sp>
          <p:nvSpPr>
            <p:cNvPr id="17" name="Shape 15"/>
            <p:cNvSpPr/>
            <p:nvPr/>
          </p:nvSpPr>
          <p:spPr>
            <a:xfrm>
              <a:off x="548640" y="5084944"/>
              <a:ext cx="658368" cy="658368"/>
            </a:xfrm>
            <a:prstGeom prst="roundRect">
              <a:avLst>
                <a:gd name="adj" fmla="val 8333"/>
              </a:avLst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548640" y="5065776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16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1371600" y="415291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is Ready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25738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Upgrade Program is a data-driven, low-risk pilot with clear KPIs, a 4-month rollout, and confidence should improvement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6437" y="5196820"/>
            <a:ext cx="11064240" cy="1057675"/>
          </a:xfrm>
          <a:prstGeom prst="roundRect">
            <a:avLst>
              <a:gd name="adj" fmla="val 11429"/>
            </a:avLst>
          </a:prstGeom>
          <a:solidFill>
            <a:srgbClr val="F77F00"/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 &amp;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Guestrin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C. (2016).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Scalable Tree Boosting System. KDD 2016.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Ke, G. et al. (2017).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Highly Efficient Gradient Boosting Decision Tree.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2017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59436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1360</Words>
  <Application>Microsoft Office PowerPoint</Application>
  <PresentationFormat>Widescreen</PresentationFormat>
  <Paragraphs>312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Omar Salem</cp:lastModifiedBy>
  <cp:revision>10</cp:revision>
  <dcterms:created xsi:type="dcterms:W3CDTF">2026-06-24T08:41:17Z</dcterms:created>
  <dcterms:modified xsi:type="dcterms:W3CDTF">2026-06-24T13:21:43Z</dcterms:modified>
</cp:coreProperties>
</file>